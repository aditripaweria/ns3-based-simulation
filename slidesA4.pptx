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aleway Heavy" charset="1" panose="020B0003030101060003"/>
      <p:regular r:id="rId17"/>
    </p:embeddedFont>
    <p:embeddedFont>
      <p:font typeface="Raleway Bold" charset="1" panose="020B0803030101060003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7.jpeg" Type="http://schemas.openxmlformats.org/officeDocument/2006/relationships/image"/><Relationship Id="rId8" Target="../media/VAGX4SI0nEk.mp4" Type="http://schemas.openxmlformats.org/officeDocument/2006/relationships/video"/><Relationship Id="rId9" Target="../media/VAGX4SI0nEk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905"/>
            <a:ext cx="18288000" cy="3706505"/>
            <a:chOff x="0" y="0"/>
            <a:chExt cx="4816593" cy="9761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76199"/>
            </a:xfrm>
            <a:custGeom>
              <a:avLst/>
              <a:gdLst/>
              <a:ahLst/>
              <a:cxnLst/>
              <a:rect r="r" b="b" t="t" l="l"/>
              <a:pathLst>
                <a:path h="9761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76199"/>
                  </a:lnTo>
                  <a:lnTo>
                    <a:pt x="0" y="976199"/>
                  </a:lnTo>
                  <a:close/>
                </a:path>
              </a:pathLst>
            </a:custGeom>
            <a:solidFill>
              <a:srgbClr val="EE71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01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52762" y="4199949"/>
            <a:ext cx="4982475" cy="5058351"/>
          </a:xfrm>
          <a:custGeom>
            <a:avLst/>
            <a:gdLst/>
            <a:ahLst/>
            <a:cxnLst/>
            <a:rect r="r" b="b" t="t" l="l"/>
            <a:pathLst>
              <a:path h="5058351" w="4982475">
                <a:moveTo>
                  <a:pt x="0" y="0"/>
                </a:moveTo>
                <a:lnTo>
                  <a:pt x="4982476" y="0"/>
                </a:lnTo>
                <a:lnTo>
                  <a:pt x="4982476" y="5058351"/>
                </a:lnTo>
                <a:lnTo>
                  <a:pt x="0" y="5058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2372" y="1162050"/>
            <a:ext cx="16814131" cy="61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b="true" sz="4938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NS3-BASED SIMULATION OF A COMPUTER NETWORK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0428" y="1978914"/>
            <a:ext cx="4387143" cy="95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48" b="true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Aditri Paweria (2022027) </a:t>
            </a:r>
          </a:p>
          <a:p>
            <a:pPr algn="l">
              <a:lnSpc>
                <a:spcPts val="3847"/>
              </a:lnSpc>
              <a:spcBef>
                <a:spcPct val="0"/>
              </a:spcBef>
            </a:pPr>
            <a:r>
              <a:rPr lang="en-US" b="true" sz="2748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Tanishk Singh (2022612)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31220" y="2561289"/>
            <a:ext cx="12999668" cy="511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926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 </a:t>
            </a:r>
            <a:r>
              <a:rPr lang="en-US" sz="2926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Simulate a network of 7 hosts and 4 routers to study:</a:t>
            </a:r>
          </a:p>
          <a:p>
            <a:pPr algn="l" marL="631789" indent="-315895" lvl="1">
              <a:lnSpc>
                <a:spcPts val="4096"/>
              </a:lnSpc>
              <a:buFont typeface="Arial"/>
              <a:buChar char="•"/>
            </a:pPr>
            <a:r>
              <a:rPr lang="en-US" sz="2926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Throughput</a:t>
            </a:r>
          </a:p>
          <a:p>
            <a:pPr algn="l" marL="631789" indent="-315895" lvl="1">
              <a:lnSpc>
                <a:spcPts val="4096"/>
              </a:lnSpc>
              <a:buFont typeface="Arial"/>
              <a:buChar char="•"/>
            </a:pPr>
            <a:r>
              <a:rPr lang="en-US" sz="2926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Packet Drops</a:t>
            </a:r>
          </a:p>
          <a:p>
            <a:pPr algn="l" marL="631789" indent="-315895" lvl="1">
              <a:lnSpc>
                <a:spcPts val="4096"/>
              </a:lnSpc>
              <a:buFont typeface="Arial"/>
              <a:buChar char="•"/>
            </a:pPr>
            <a:r>
              <a:rPr lang="en-US" sz="2926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End-to-End Delays</a:t>
            </a:r>
          </a:p>
          <a:p>
            <a:pPr algn="l" marL="631789" indent="-315895" lvl="1">
              <a:lnSpc>
                <a:spcPts val="4096"/>
              </a:lnSpc>
              <a:buFont typeface="Arial"/>
              <a:buChar char="•"/>
            </a:pPr>
            <a:r>
              <a:rPr lang="en-US" sz="2926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Queue Lengths</a:t>
            </a:r>
          </a:p>
          <a:p>
            <a:pPr algn="l">
              <a:lnSpc>
                <a:spcPts val="4096"/>
              </a:lnSpc>
            </a:pPr>
          </a:p>
          <a:p>
            <a:pPr algn="l">
              <a:lnSpc>
                <a:spcPts val="4096"/>
              </a:lnSpc>
            </a:pPr>
            <a:r>
              <a:rPr lang="en-US" sz="2926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Used:</a:t>
            </a:r>
          </a:p>
          <a:p>
            <a:pPr algn="l" marL="631789" indent="-315895" lvl="1">
              <a:lnSpc>
                <a:spcPts val="4096"/>
              </a:lnSpc>
              <a:buFont typeface="Arial"/>
              <a:buChar char="•"/>
            </a:pPr>
            <a:r>
              <a:rPr lang="en-US" b="true" sz="2926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NS3:</a:t>
            </a:r>
            <a:r>
              <a:rPr lang="en-US" sz="2926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 A discrete-event network simulator for simulating IP networks.</a:t>
            </a:r>
          </a:p>
          <a:p>
            <a:pPr algn="l" marL="631789" indent="-315895" lvl="1">
              <a:lnSpc>
                <a:spcPts val="4096"/>
              </a:lnSpc>
              <a:buFont typeface="Arial"/>
              <a:buChar char="•"/>
            </a:pPr>
            <a:r>
              <a:rPr lang="en-US" b="true" sz="2926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NetAnim:</a:t>
            </a:r>
            <a:r>
              <a:rPr lang="en-US" sz="2926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 A visualization tool to analyze packet flows.</a:t>
            </a:r>
          </a:p>
          <a:p>
            <a:pPr algn="l">
              <a:lnSpc>
                <a:spcPts val="4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01534" y="352622"/>
            <a:ext cx="2264575" cy="2749105"/>
          </a:xfrm>
          <a:custGeom>
            <a:avLst/>
            <a:gdLst/>
            <a:ahLst/>
            <a:cxnLst/>
            <a:rect r="r" b="b" t="t" l="l"/>
            <a:pathLst>
              <a:path h="2749105" w="2264575">
                <a:moveTo>
                  <a:pt x="0" y="0"/>
                </a:moveTo>
                <a:lnTo>
                  <a:pt x="2264575" y="0"/>
                </a:lnTo>
                <a:lnTo>
                  <a:pt x="2264575" y="2749105"/>
                </a:lnTo>
                <a:lnTo>
                  <a:pt x="0" y="2749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31220" y="1200150"/>
            <a:ext cx="13948485" cy="84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1"/>
              </a:lnSpc>
            </a:pPr>
            <a:r>
              <a:rPr lang="en-US" b="true" sz="6690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773" y="743067"/>
            <a:ext cx="1087006" cy="1087006"/>
          </a:xfrm>
          <a:custGeom>
            <a:avLst/>
            <a:gdLst/>
            <a:ahLst/>
            <a:cxnLst/>
            <a:rect r="r" b="b" t="t" l="l"/>
            <a:pathLst>
              <a:path h="1087006" w="1087006">
                <a:moveTo>
                  <a:pt x="0" y="0"/>
                </a:moveTo>
                <a:lnTo>
                  <a:pt x="1087006" y="0"/>
                </a:lnTo>
                <a:lnTo>
                  <a:pt x="1087006" y="1087006"/>
                </a:lnTo>
                <a:lnTo>
                  <a:pt x="0" y="1087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25236" y="3172211"/>
            <a:ext cx="9105249" cy="4962361"/>
          </a:xfrm>
          <a:custGeom>
            <a:avLst/>
            <a:gdLst/>
            <a:ahLst/>
            <a:cxnLst/>
            <a:rect r="r" b="b" t="t" l="l"/>
            <a:pathLst>
              <a:path h="4962361" w="9105249">
                <a:moveTo>
                  <a:pt x="0" y="0"/>
                </a:moveTo>
                <a:lnTo>
                  <a:pt x="9105249" y="0"/>
                </a:lnTo>
                <a:lnTo>
                  <a:pt x="9105249" y="4962361"/>
                </a:lnTo>
                <a:lnTo>
                  <a:pt x="0" y="4962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63886" y="3124586"/>
            <a:ext cx="6081561" cy="4907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552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Topology:</a:t>
            </a:r>
          </a:p>
          <a:p>
            <a:pPr algn="l" marL="551157" indent="-275579" lvl="1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7 Hos</a:t>
            </a: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ts:</a:t>
            </a: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 Represented as endpoints generating or receiving traffic.</a:t>
            </a:r>
          </a:p>
          <a:p>
            <a:pPr algn="l" marL="551157" indent="-275579" lvl="1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4 Ro</a:t>
            </a: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uters: Intermediary nodes managing data transmission.</a:t>
            </a:r>
          </a:p>
          <a:p>
            <a:pPr algn="l">
              <a:lnSpc>
                <a:spcPts val="3573"/>
              </a:lnSpc>
            </a:pPr>
            <a:r>
              <a:rPr lang="en-US" sz="2552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 Parameters:</a:t>
            </a:r>
          </a:p>
          <a:p>
            <a:pPr algn="l" marL="551157" indent="-275579" lvl="1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Point-to-Point links with varying bandwidth (10 Mbps to 30 Mbps).</a:t>
            </a:r>
          </a:p>
          <a:p>
            <a:pPr algn="l" marL="551157" indent="-275579" lvl="1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Uniform delay of 1 ms.</a:t>
            </a:r>
          </a:p>
          <a:p>
            <a:pPr algn="l" marL="551157" indent="-275579" lvl="1">
              <a:lnSpc>
                <a:spcPts val="3573"/>
              </a:lnSpc>
              <a:buFont typeface="Arial"/>
              <a:buChar char="•"/>
            </a:pP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Pa</a:t>
            </a:r>
            <a:r>
              <a:rPr lang="en-US" sz="255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cket drop rate: 0.5%.</a:t>
            </a:r>
          </a:p>
          <a:p>
            <a:pPr algn="l">
              <a:lnSpc>
                <a:spcPts val="357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84911" y="633744"/>
            <a:ext cx="15545574" cy="235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9"/>
              </a:lnSpc>
            </a:pPr>
            <a:r>
              <a:rPr lang="en-US" b="true" sz="6692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NETWORK TOPOLOGY AND PARAMETERS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773" y="743067"/>
            <a:ext cx="1087006" cy="1087006"/>
          </a:xfrm>
          <a:custGeom>
            <a:avLst/>
            <a:gdLst/>
            <a:ahLst/>
            <a:cxnLst/>
            <a:rect r="r" b="b" t="t" l="l"/>
            <a:pathLst>
              <a:path h="1087006" w="1087006">
                <a:moveTo>
                  <a:pt x="0" y="0"/>
                </a:moveTo>
                <a:lnTo>
                  <a:pt x="1087006" y="0"/>
                </a:lnTo>
                <a:lnTo>
                  <a:pt x="1087006" y="1087006"/>
                </a:lnTo>
                <a:lnTo>
                  <a:pt x="0" y="1087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6745" y="2417909"/>
            <a:ext cx="7878223" cy="5987449"/>
          </a:xfrm>
          <a:custGeom>
            <a:avLst/>
            <a:gdLst/>
            <a:ahLst/>
            <a:cxnLst/>
            <a:rect r="r" b="b" t="t" l="l"/>
            <a:pathLst>
              <a:path h="5987449" w="7878223">
                <a:moveTo>
                  <a:pt x="0" y="0"/>
                </a:moveTo>
                <a:lnTo>
                  <a:pt x="7878223" y="0"/>
                </a:lnTo>
                <a:lnTo>
                  <a:pt x="7878223" y="5987449"/>
                </a:lnTo>
                <a:lnTo>
                  <a:pt x="0" y="5987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03536" y="2370284"/>
            <a:ext cx="6152656" cy="625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Environment:</a:t>
            </a:r>
            <a:r>
              <a:rPr lang="en-US" sz="255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5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NS3 on Linux with dependencies like g++, Python3, CMake.</a:t>
            </a:r>
          </a:p>
          <a:p>
            <a:pPr algn="l">
              <a:lnSpc>
                <a:spcPts val="3570"/>
              </a:lnSpc>
            </a:pPr>
            <a:r>
              <a:rPr lang="en-US" sz="255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Integration: </a:t>
            </a:r>
            <a:r>
              <a:rPr lang="en-US" sz="255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Assignment topology file added to NS3 scratch folder.</a:t>
            </a:r>
          </a:p>
          <a:p>
            <a:pPr algn="l">
              <a:lnSpc>
                <a:spcPts val="3570"/>
              </a:lnSpc>
            </a:pPr>
            <a:r>
              <a:rPr lang="en-US" sz="255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Execution:</a:t>
            </a:r>
          </a:p>
          <a:p>
            <a:pPr algn="l" marL="550670" indent="-275335" lvl="1">
              <a:lnSpc>
                <a:spcPts val="3570"/>
              </a:lnSpc>
              <a:buFont typeface="Arial"/>
              <a:buChar char="•"/>
            </a:pPr>
            <a:r>
              <a:rPr lang="en-US" sz="255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Run simulation with logging: NS_LOG="AssignmentTopology=info" ./ns3 run scratch/assignment_topology.</a:t>
            </a:r>
          </a:p>
          <a:p>
            <a:pPr algn="l" marL="550670" indent="-275335" lvl="1">
              <a:lnSpc>
                <a:spcPts val="3570"/>
              </a:lnSpc>
              <a:buFont typeface="Arial"/>
              <a:buChar char="•"/>
            </a:pPr>
            <a:r>
              <a:rPr lang="en-US" sz="255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Generated XML file for NetAnim visualization.</a:t>
            </a:r>
          </a:p>
          <a:p>
            <a:pPr algn="l">
              <a:lnSpc>
                <a:spcPts val="3570"/>
              </a:lnSpc>
            </a:pPr>
          </a:p>
          <a:p>
            <a:pPr algn="l">
              <a:lnSpc>
                <a:spcPts val="357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203536" y="849005"/>
            <a:ext cx="15055764" cy="89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8"/>
              </a:lnSpc>
            </a:pPr>
            <a:r>
              <a:rPr lang="en-US" b="true" sz="6692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SIMULATION SETUP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773" y="743067"/>
            <a:ext cx="1087006" cy="1087006"/>
          </a:xfrm>
          <a:custGeom>
            <a:avLst/>
            <a:gdLst/>
            <a:ahLst/>
            <a:cxnLst/>
            <a:rect r="r" b="b" t="t" l="l"/>
            <a:pathLst>
              <a:path h="1087006" w="1087006">
                <a:moveTo>
                  <a:pt x="0" y="0"/>
                </a:moveTo>
                <a:lnTo>
                  <a:pt x="1087006" y="0"/>
                </a:lnTo>
                <a:lnTo>
                  <a:pt x="1087006" y="1087006"/>
                </a:lnTo>
                <a:lnTo>
                  <a:pt x="0" y="1087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01763" y="5546439"/>
            <a:ext cx="8025646" cy="3711861"/>
          </a:xfrm>
          <a:custGeom>
            <a:avLst/>
            <a:gdLst/>
            <a:ahLst/>
            <a:cxnLst/>
            <a:rect r="r" b="b" t="t" l="l"/>
            <a:pathLst>
              <a:path h="3711861" w="8025646">
                <a:moveTo>
                  <a:pt x="0" y="0"/>
                </a:moveTo>
                <a:lnTo>
                  <a:pt x="8025646" y="0"/>
                </a:lnTo>
                <a:lnTo>
                  <a:pt x="8025646" y="3711861"/>
                </a:lnTo>
                <a:lnTo>
                  <a:pt x="0" y="3711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20449" y="2098031"/>
            <a:ext cx="13446892" cy="5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24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Traffic Matrix: </a:t>
            </a:r>
          </a:p>
          <a:p>
            <a:pPr algn="l" marL="483779" indent="-241889" lvl="1">
              <a:lnSpc>
                <a:spcPts val="3137"/>
              </a:lnSpc>
              <a:buFont typeface="Arial"/>
              <a:buChar char="•"/>
            </a:pPr>
            <a:r>
              <a:rPr lang="en-US" sz="224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Example: A to E: 44 packets, B to F: 34 packets.</a:t>
            </a:r>
          </a:p>
          <a:p>
            <a:pPr algn="l">
              <a:lnSpc>
                <a:spcPts val="3137"/>
              </a:lnSpc>
            </a:pPr>
            <a:r>
              <a:rPr lang="en-US" sz="224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Observations:</a:t>
            </a:r>
          </a:p>
          <a:p>
            <a:pPr algn="l">
              <a:lnSpc>
                <a:spcPts val="3137"/>
              </a:lnSpc>
            </a:pPr>
            <a:r>
              <a:rPr lang="en-US" sz="224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Traffic Hotspots: </a:t>
            </a:r>
            <a:r>
              <a:rPr lang="en-US" sz="224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Occur on links with high data rates and multiple connections (e.g., routers connecting to multiple hosts with high-bandwidth links). These routes experience more traffic, resulting in higher throughput but potentially increased delays and packet loss.</a:t>
            </a:r>
          </a:p>
          <a:p>
            <a:pPr algn="l">
              <a:lnSpc>
                <a:spcPts val="3137"/>
              </a:lnSpc>
            </a:pPr>
            <a:r>
              <a:rPr lang="en-US" sz="224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Low-Traffic Routes:</a:t>
            </a:r>
            <a:r>
              <a:rPr lang="en-US" sz="224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 Found on links with lower data rates or fewer connections (e.g., connections with 10-20 Mbps capacity). These routes experience less congestion but may have lower throughput.</a:t>
            </a:r>
          </a:p>
          <a:p>
            <a:pPr algn="l">
              <a:lnSpc>
                <a:spcPts val="3137"/>
              </a:lnSpc>
            </a:pPr>
            <a:r>
              <a:rPr lang="en-US" sz="2240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on Network Behavior:</a:t>
            </a:r>
          </a:p>
          <a:p>
            <a:pPr algn="l" marL="483779" indent="-241889" lvl="1">
              <a:lnSpc>
                <a:spcPts val="3137"/>
              </a:lnSpc>
              <a:buFont typeface="Arial"/>
              <a:buChar char="•"/>
            </a:pPr>
            <a:r>
              <a:rPr lang="en-US" sz="224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Throughput: Higher on high-capacity routes.</a:t>
            </a:r>
          </a:p>
          <a:p>
            <a:pPr algn="l" marL="483779" indent="-241889" lvl="1">
              <a:lnSpc>
                <a:spcPts val="3137"/>
              </a:lnSpc>
              <a:buFont typeface="Arial"/>
              <a:buChar char="•"/>
            </a:pPr>
            <a:r>
              <a:rPr lang="en-US" sz="224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Delay: Increases on congested hotspots.</a:t>
            </a:r>
          </a:p>
          <a:p>
            <a:pPr algn="l" marL="483779" indent="-241889" lvl="1">
              <a:lnSpc>
                <a:spcPts val="3137"/>
              </a:lnSpc>
              <a:buFont typeface="Arial"/>
              <a:buChar char="•"/>
            </a:pPr>
            <a:r>
              <a:rPr lang="en-US" sz="2240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Packet Loss: More common on congested paths.</a:t>
            </a:r>
          </a:p>
          <a:p>
            <a:pPr algn="l">
              <a:lnSpc>
                <a:spcPts val="3137"/>
              </a:lnSpc>
            </a:pPr>
          </a:p>
          <a:p>
            <a:pPr algn="l">
              <a:lnSpc>
                <a:spcPts val="313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20449" y="914062"/>
            <a:ext cx="13222879" cy="91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3"/>
              </a:lnSpc>
            </a:pPr>
            <a:r>
              <a:rPr lang="en-US" b="true" sz="6692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TRAFFIC PATTERNS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773" y="743067"/>
            <a:ext cx="1087006" cy="1087006"/>
          </a:xfrm>
          <a:custGeom>
            <a:avLst/>
            <a:gdLst/>
            <a:ahLst/>
            <a:cxnLst/>
            <a:rect r="r" b="b" t="t" l="l"/>
            <a:pathLst>
              <a:path h="1087006" w="1087006">
                <a:moveTo>
                  <a:pt x="0" y="0"/>
                </a:moveTo>
                <a:lnTo>
                  <a:pt x="1087006" y="0"/>
                </a:lnTo>
                <a:lnTo>
                  <a:pt x="1087006" y="1087006"/>
                </a:lnTo>
                <a:lnTo>
                  <a:pt x="0" y="1087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46369" y="3019974"/>
            <a:ext cx="6897631" cy="600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453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Cong</a:t>
            </a:r>
            <a:r>
              <a:rPr lang="en-US" sz="2453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ested Route:</a:t>
            </a:r>
          </a:p>
          <a:p>
            <a:pPr algn="l" marL="529674" indent="-264837" lvl="1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453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low 1 (10.1.1.1 → 10.1.5.1) with 92 packet drops, throughput 0.002 Mbps, and average delay 3.57 ms.</a:t>
            </a:r>
          </a:p>
          <a:p>
            <a:pPr algn="l">
              <a:lnSpc>
                <a:spcPts val="3434"/>
              </a:lnSpc>
            </a:pPr>
            <a:r>
              <a:rPr lang="en-US" sz="2453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Insights:</a:t>
            </a:r>
          </a:p>
          <a:p>
            <a:pPr algn="l" marL="529674" indent="-264837" lvl="1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Higher traffic density leads to more packet drops and delays: As Flow 1 sent 116 packets, compared to only 6 in Flow 2, the high volume caused congestion, leading to delays and drops.</a:t>
            </a:r>
          </a:p>
          <a:p>
            <a:pPr algn="l" marL="529674" indent="-264837" lvl="1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453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olutions: Use QoS, load balancing, and optimize retransmission to reduce congestion.</a:t>
            </a:r>
          </a:p>
          <a:p>
            <a:pPr algn="l">
              <a:lnSpc>
                <a:spcPts val="343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246369" y="694803"/>
            <a:ext cx="13222879" cy="351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3"/>
              </a:lnSpc>
            </a:pPr>
            <a:r>
              <a:rPr lang="en-US" sz="6692" b="true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OBSERVED RESULTS – PACKET DROPS AND DELAYS</a:t>
            </a:r>
          </a:p>
          <a:p>
            <a:pPr algn="l">
              <a:lnSpc>
                <a:spcPts val="6893"/>
              </a:lnSpc>
            </a:pPr>
          </a:p>
          <a:p>
            <a:pPr algn="l">
              <a:lnSpc>
                <a:spcPts val="689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3655910" y="3628719"/>
            <a:ext cx="6358658" cy="6658281"/>
          </a:xfrm>
          <a:custGeom>
            <a:avLst/>
            <a:gdLst/>
            <a:ahLst/>
            <a:cxnLst/>
            <a:rect r="r" b="b" t="t" l="l"/>
            <a:pathLst>
              <a:path h="6658281" w="6358658">
                <a:moveTo>
                  <a:pt x="6358659" y="0"/>
                </a:moveTo>
                <a:lnTo>
                  <a:pt x="0" y="0"/>
                </a:lnTo>
                <a:lnTo>
                  <a:pt x="0" y="6658281"/>
                </a:lnTo>
                <a:lnTo>
                  <a:pt x="6358659" y="6658281"/>
                </a:lnTo>
                <a:lnTo>
                  <a:pt x="6358659" y="0"/>
                </a:lnTo>
                <a:close/>
              </a:path>
            </a:pathLst>
          </a:custGeom>
          <a:blipFill>
            <a:blip r:embed="rId5">
              <a:alphaModFix amt="4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72972" y="3137388"/>
            <a:ext cx="4715618" cy="6120912"/>
          </a:xfrm>
          <a:custGeom>
            <a:avLst/>
            <a:gdLst/>
            <a:ahLst/>
            <a:cxnLst/>
            <a:rect r="r" b="b" t="t" l="l"/>
            <a:pathLst>
              <a:path h="6120912" w="4715618">
                <a:moveTo>
                  <a:pt x="0" y="0"/>
                </a:moveTo>
                <a:lnTo>
                  <a:pt x="4715619" y="0"/>
                </a:lnTo>
                <a:lnTo>
                  <a:pt x="4715619" y="6120912"/>
                </a:lnTo>
                <a:lnTo>
                  <a:pt x="0" y="6120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1522" t="-39221" r="-107029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3536" y="3160962"/>
            <a:ext cx="11077321" cy="452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9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Maximum Queue Lengths: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R1: 116 packets, R2: 6 packets (based on the data from Flow 1 and Flow 2).</a:t>
            </a:r>
          </a:p>
          <a:p>
            <a:pPr algn="l">
              <a:lnSpc>
                <a:spcPts val="4045"/>
              </a:lnSpc>
            </a:pPr>
            <a:r>
              <a:rPr lang="en-US" sz="2889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of Queue Sizes: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Larger queues: Reduce packet drops but increase delay (seen in Flow 1).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Smaller queues: Better for low-traffic networks like Flow 2, ensuring minimal delays but risk of drops in high traffic.</a:t>
            </a:r>
          </a:p>
          <a:p>
            <a:pPr algn="l">
              <a:lnSpc>
                <a:spcPts val="404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85197" y="661828"/>
            <a:ext cx="1497414" cy="1497414"/>
          </a:xfrm>
          <a:custGeom>
            <a:avLst/>
            <a:gdLst/>
            <a:ahLst/>
            <a:cxnLst/>
            <a:rect r="r" b="b" t="t" l="l"/>
            <a:pathLst>
              <a:path h="1497414" w="1497414">
                <a:moveTo>
                  <a:pt x="0" y="0"/>
                </a:moveTo>
                <a:lnTo>
                  <a:pt x="1497414" y="0"/>
                </a:lnTo>
                <a:lnTo>
                  <a:pt x="1497414" y="1497414"/>
                </a:lnTo>
                <a:lnTo>
                  <a:pt x="0" y="149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07580" y="5674138"/>
            <a:ext cx="4445645" cy="4612862"/>
          </a:xfrm>
          <a:custGeom>
            <a:avLst/>
            <a:gdLst/>
            <a:ahLst/>
            <a:cxnLst/>
            <a:rect r="r" b="b" t="t" l="l"/>
            <a:pathLst>
              <a:path h="4612862" w="4445645">
                <a:moveTo>
                  <a:pt x="0" y="0"/>
                </a:moveTo>
                <a:lnTo>
                  <a:pt x="4445645" y="0"/>
                </a:lnTo>
                <a:lnTo>
                  <a:pt x="4445645" y="4612862"/>
                </a:lnTo>
                <a:lnTo>
                  <a:pt x="0" y="46128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3536" y="986599"/>
            <a:ext cx="13222879" cy="166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7"/>
              </a:lnSpc>
            </a:pPr>
            <a:r>
              <a:rPr lang="en-US" b="true" sz="6692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OBSERVED RESULTS – QUEUE LENGTHS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3536" y="2560809"/>
            <a:ext cx="7377378" cy="643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2831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 10.1.1.1 → 10.1.5.1:</a:t>
            </a:r>
          </a:p>
          <a:p>
            <a:pPr algn="l" marL="611261" indent="-305631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Tx Packets: 116</a:t>
            </a:r>
          </a:p>
          <a:p>
            <a:pPr algn="l" marL="611261" indent="-305631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Rx Packets: 6</a:t>
            </a:r>
          </a:p>
          <a:p>
            <a:pPr algn="l" marL="611261" indent="-305631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Lost Packets: 92</a:t>
            </a:r>
          </a:p>
          <a:p>
            <a:pPr algn="l" marL="611261" indent="-305631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Throughput: 0.002 Mbps</a:t>
            </a:r>
          </a:p>
          <a:p>
            <a:pPr algn="l" marL="611261" indent="-305631" lvl="1">
              <a:lnSpc>
                <a:spcPts val="3963"/>
              </a:lnSpc>
              <a:buFont typeface="Arial"/>
              <a:buChar char="•"/>
            </a:pPr>
            <a:r>
              <a:rPr lang="en-US" sz="2831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End-to-End Delay: 3.572 ms</a:t>
            </a:r>
          </a:p>
          <a:p>
            <a:pPr algn="l">
              <a:lnSpc>
                <a:spcPts val="3963"/>
              </a:lnSpc>
            </a:pPr>
            <a:r>
              <a:rPr lang="en-US" sz="2831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sz="2831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S3 Output Logs:</a:t>
            </a:r>
          </a:p>
          <a:p>
            <a:pPr algn="l">
              <a:lnSpc>
                <a:spcPts val="3963"/>
              </a:lnSpc>
            </a:pPr>
            <a:r>
              <a:rPr lang="en-US" sz="2831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Refer to the logs in the provided screenshots for packet transmission and reception details. The logs clearly show the packet flow, timestamps, and congestion statistics.</a:t>
            </a:r>
          </a:p>
          <a:p>
            <a:pPr algn="l">
              <a:lnSpc>
                <a:spcPts val="396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85197" y="661828"/>
            <a:ext cx="1497414" cy="1497414"/>
          </a:xfrm>
          <a:custGeom>
            <a:avLst/>
            <a:gdLst/>
            <a:ahLst/>
            <a:cxnLst/>
            <a:rect r="r" b="b" t="t" l="l"/>
            <a:pathLst>
              <a:path h="1497414" w="1497414">
                <a:moveTo>
                  <a:pt x="0" y="0"/>
                </a:moveTo>
                <a:lnTo>
                  <a:pt x="1497414" y="0"/>
                </a:lnTo>
                <a:lnTo>
                  <a:pt x="1497414" y="1497414"/>
                </a:lnTo>
                <a:lnTo>
                  <a:pt x="0" y="149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01638" y="2608434"/>
            <a:ext cx="6470898" cy="5070132"/>
          </a:xfrm>
          <a:custGeom>
            <a:avLst/>
            <a:gdLst/>
            <a:ahLst/>
            <a:cxnLst/>
            <a:rect r="r" b="b" t="t" l="l"/>
            <a:pathLst>
              <a:path h="5070132" w="6470898">
                <a:moveTo>
                  <a:pt x="0" y="0"/>
                </a:moveTo>
                <a:lnTo>
                  <a:pt x="6470899" y="0"/>
                </a:lnTo>
                <a:lnTo>
                  <a:pt x="6470899" y="5070132"/>
                </a:lnTo>
                <a:lnTo>
                  <a:pt x="0" y="50701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6847" t="-207867" r="-17497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3536" y="986599"/>
            <a:ext cx="13222879" cy="86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7"/>
              </a:lnSpc>
            </a:pPr>
            <a:r>
              <a:rPr lang="en-US" b="true" sz="6692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FLOW STATISTICS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197" y="661828"/>
            <a:ext cx="1497414" cy="1497414"/>
          </a:xfrm>
          <a:custGeom>
            <a:avLst/>
            <a:gdLst/>
            <a:ahLst/>
            <a:cxnLst/>
            <a:rect r="r" b="b" t="t" l="l"/>
            <a:pathLst>
              <a:path h="1497414" w="1497414">
                <a:moveTo>
                  <a:pt x="0" y="0"/>
                </a:moveTo>
                <a:lnTo>
                  <a:pt x="1497414" y="0"/>
                </a:lnTo>
                <a:lnTo>
                  <a:pt x="1497414" y="1497414"/>
                </a:lnTo>
                <a:lnTo>
                  <a:pt x="0" y="149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07580" y="5674138"/>
            <a:ext cx="4445645" cy="4612862"/>
          </a:xfrm>
          <a:custGeom>
            <a:avLst/>
            <a:gdLst/>
            <a:ahLst/>
            <a:cxnLst/>
            <a:rect r="r" b="b" t="t" l="l"/>
            <a:pathLst>
              <a:path h="4612862" w="4445645">
                <a:moveTo>
                  <a:pt x="0" y="0"/>
                </a:moveTo>
                <a:lnTo>
                  <a:pt x="4445645" y="0"/>
                </a:lnTo>
                <a:lnTo>
                  <a:pt x="4445645" y="4612862"/>
                </a:lnTo>
                <a:lnTo>
                  <a:pt x="0" y="46128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2203536" y="3018643"/>
            <a:ext cx="9838751" cy="639853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03536" y="2231251"/>
            <a:ext cx="12231690" cy="195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2832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Traces: </a:t>
            </a:r>
            <a:r>
              <a:rPr lang="en-US" sz="2832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a few packets traversing the network using NetAnim.</a:t>
            </a:r>
          </a:p>
          <a:p>
            <a:pPr algn="l">
              <a:lnSpc>
                <a:spcPts val="3965"/>
              </a:lnSpc>
            </a:pPr>
          </a:p>
          <a:p>
            <a:pPr algn="l">
              <a:lnSpc>
                <a:spcPts val="3965"/>
              </a:lnSpc>
            </a:pPr>
          </a:p>
          <a:p>
            <a:pPr algn="l">
              <a:lnSpc>
                <a:spcPts val="396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03536" y="986599"/>
            <a:ext cx="13222879" cy="86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7"/>
              </a:lnSpc>
            </a:pPr>
            <a:r>
              <a:rPr lang="en-US" b="true" sz="6692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PACKET TRACE VISUALIZATION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3536" y="2563627"/>
            <a:ext cx="12455786" cy="503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9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Findings: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Bandwidth and traffic intensity heavily influence performance.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Packet drops increase with traffic, but larger queues mitigate losses.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Visualization tools like NetAnim are invaluable for understanding flow patterns.</a:t>
            </a:r>
          </a:p>
          <a:p>
            <a:pPr algn="l">
              <a:lnSpc>
                <a:spcPts val="4045"/>
              </a:lnSpc>
            </a:pPr>
            <a:r>
              <a:rPr lang="en-US" sz="2889" b="true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Recommendations: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Optimize routing protocols.</a:t>
            </a:r>
          </a:p>
          <a:p>
            <a:pPr algn="l" marL="623882" indent="-311941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1D1D1F"/>
                </a:solidFill>
                <a:latin typeface="Canva Sans"/>
                <a:ea typeface="Canva Sans"/>
                <a:cs typeface="Canva Sans"/>
                <a:sym typeface="Canva Sans"/>
              </a:rPr>
              <a:t>Use dynamic traffic management to prevent congestion.</a:t>
            </a:r>
          </a:p>
          <a:p>
            <a:pPr algn="l">
              <a:lnSpc>
                <a:spcPts val="404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85197" y="661828"/>
            <a:ext cx="1497414" cy="1497414"/>
          </a:xfrm>
          <a:custGeom>
            <a:avLst/>
            <a:gdLst/>
            <a:ahLst/>
            <a:cxnLst/>
            <a:rect r="r" b="b" t="t" l="l"/>
            <a:pathLst>
              <a:path h="1497414" w="1497414">
                <a:moveTo>
                  <a:pt x="0" y="0"/>
                </a:moveTo>
                <a:lnTo>
                  <a:pt x="1497414" y="0"/>
                </a:lnTo>
                <a:lnTo>
                  <a:pt x="1497414" y="1497414"/>
                </a:lnTo>
                <a:lnTo>
                  <a:pt x="0" y="149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07580" y="5674138"/>
            <a:ext cx="4445645" cy="4612862"/>
          </a:xfrm>
          <a:custGeom>
            <a:avLst/>
            <a:gdLst/>
            <a:ahLst/>
            <a:cxnLst/>
            <a:rect r="r" b="b" t="t" l="l"/>
            <a:pathLst>
              <a:path h="4612862" w="4445645">
                <a:moveTo>
                  <a:pt x="0" y="0"/>
                </a:moveTo>
                <a:lnTo>
                  <a:pt x="4445645" y="0"/>
                </a:lnTo>
                <a:lnTo>
                  <a:pt x="4445645" y="4612862"/>
                </a:lnTo>
                <a:lnTo>
                  <a:pt x="0" y="46128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3536" y="986599"/>
            <a:ext cx="13222879" cy="86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7"/>
              </a:lnSpc>
            </a:pPr>
            <a:r>
              <a:rPr lang="en-US" b="true" sz="6692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8609"/>
            <a:ext cx="18803526" cy="11437336"/>
          </a:xfrm>
          <a:custGeom>
            <a:avLst/>
            <a:gdLst/>
            <a:ahLst/>
            <a:cxnLst/>
            <a:rect r="r" b="b" t="t" l="l"/>
            <a:pathLst>
              <a:path h="11437336" w="18803526">
                <a:moveTo>
                  <a:pt x="0" y="0"/>
                </a:moveTo>
                <a:lnTo>
                  <a:pt x="18803526" y="0"/>
                </a:lnTo>
                <a:lnTo>
                  <a:pt x="18803526" y="11437336"/>
                </a:lnTo>
                <a:lnTo>
                  <a:pt x="0" y="114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-939" t="-11593" r="-9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2322" y="2200449"/>
            <a:ext cx="4463356" cy="6699221"/>
          </a:xfrm>
          <a:custGeom>
            <a:avLst/>
            <a:gdLst/>
            <a:ahLst/>
            <a:cxnLst/>
            <a:rect r="r" b="b" t="t" l="l"/>
            <a:pathLst>
              <a:path h="6699221" w="4463356">
                <a:moveTo>
                  <a:pt x="0" y="0"/>
                </a:moveTo>
                <a:lnTo>
                  <a:pt x="4463356" y="0"/>
                </a:lnTo>
                <a:lnTo>
                  <a:pt x="4463356" y="6699220"/>
                </a:lnTo>
                <a:lnTo>
                  <a:pt x="0" y="669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7071" y="3638701"/>
            <a:ext cx="7093858" cy="166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79"/>
              </a:lnSpc>
            </a:pPr>
            <a:r>
              <a:rPr lang="en-US" b="true" sz="9699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DAGRL5pHe2c</dc:identifier>
  <dcterms:modified xsi:type="dcterms:W3CDTF">2011-08-01T06:04:30Z</dcterms:modified>
  <cp:revision>1</cp:revision>
  <dc:title>UDP Pinger and Heartbeat System</dc:title>
</cp:coreProperties>
</file>